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9" r:id="rId7"/>
    <p:sldId id="270" r:id="rId8"/>
    <p:sldId id="271" r:id="rId9"/>
    <p:sldId id="272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278" autoAdjust="0"/>
  </p:normalViewPr>
  <p:slideViewPr>
    <p:cSldViewPr snapToGrid="0" snapToObjects="1">
      <p:cViewPr varScale="1">
        <p:scale>
          <a:sx n="98" d="100"/>
          <a:sy n="98" d="100"/>
        </p:scale>
        <p:origin x="10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181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564 Machine Learning in Python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Survival Prediction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Presentation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30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İlayda </a:t>
            </a:r>
            <a:r>
              <a:rPr lang="tr-TR" sz="1300" dirty="0" err="1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Dinçkülah</a:t>
            </a:r>
            <a:r>
              <a:rPr lang="tr-TR" sz="130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Spring </a:t>
            </a:r>
            <a:r>
              <a:rPr lang="en-US" sz="130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r>
              <a:rPr lang="tr-TR" sz="130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300" dirty="0">
                <a:solidFill>
                  <a:srgbClr val="8E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Final Score: 0.77990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 →  Predict whether a passenger survived the Titanic disaster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143"/>
    </mc:Choice>
    <mc:Fallback xmlns="">
      <p:transition spd="slow" advTm="7214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84048" y="1005840"/>
            <a:ext cx="1572768" cy="822960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20624" y="1051560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56816" y="1417320"/>
            <a:ext cx="128016" cy="0"/>
          </a:xfrm>
          <a:prstGeom prst="line">
            <a:avLst/>
          </a:prstGeom>
          <a:noFill/>
          <a:ln w="254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084832" y="1005840"/>
            <a:ext cx="1572768" cy="82296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121408" y="1051560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1417320"/>
            <a:ext cx="128016" cy="0"/>
          </a:xfrm>
          <a:prstGeom prst="line">
            <a:avLst/>
          </a:prstGeom>
          <a:noFill/>
          <a:ln w="254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785616" y="1005840"/>
            <a:ext cx="1572768" cy="822960"/>
          </a:xfrm>
          <a:prstGeom prst="rect">
            <a:avLst/>
          </a:prstGeom>
          <a:solidFill>
            <a:srgbClr val="234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822192" y="1051560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58384" y="1417320"/>
            <a:ext cx="128016" cy="0"/>
          </a:xfrm>
          <a:prstGeom prst="line">
            <a:avLst/>
          </a:prstGeom>
          <a:noFill/>
          <a:ln w="254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5486400" y="1005840"/>
            <a:ext cx="1572768" cy="822960"/>
          </a:xfrm>
          <a:prstGeom prst="rect">
            <a:avLst/>
          </a:prstGeom>
          <a:solidFill>
            <a:srgbClr val="0A5D6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522976" y="1051560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Dim. Reduction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59168" y="1417320"/>
            <a:ext cx="128016" cy="0"/>
          </a:xfrm>
          <a:prstGeom prst="line">
            <a:avLst/>
          </a:prstGeom>
          <a:noFill/>
          <a:ln w="254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187184" y="1005840"/>
            <a:ext cx="1572768" cy="822960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223760" y="1051560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Feat. Selection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2651760"/>
            <a:ext cx="1572768" cy="82296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20624" y="2697480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84832" y="2651760"/>
            <a:ext cx="1572768" cy="822960"/>
          </a:xfrm>
          <a:prstGeom prst="rect">
            <a:avLst/>
          </a:prstGeom>
          <a:solidFill>
            <a:srgbClr val="234E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121408" y="2697480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85616" y="2651760"/>
            <a:ext cx="1572768" cy="822960"/>
          </a:xfrm>
          <a:prstGeom prst="rect">
            <a:avLst/>
          </a:prstGeom>
          <a:solidFill>
            <a:srgbClr val="0A5D6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822192" y="2697480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2651760"/>
            <a:ext cx="1572768" cy="822960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522976" y="2697480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343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Titanic - Kaggle Competition  |  Train: 891 passengers  |  Test: 418 passengers  |  Target: Survived (Binary)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35"/>
    </mc:Choice>
    <mc:Fallback xmlns="">
      <p:transition spd="slow" advTm="2353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1: Exploratory Data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7772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 with Survival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755648" cy="868680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rows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1115568"/>
            <a:ext cx="1755648" cy="8686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331720" y="1161288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 test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2121408"/>
            <a:ext cx="1755648" cy="868680"/>
          </a:xfrm>
          <a:prstGeom prst="rect">
            <a:avLst/>
          </a:prstGeom>
          <a:solidFill>
            <a:srgbClr val="B8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2167128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Survived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2121408"/>
            <a:ext cx="1755648" cy="868680"/>
          </a:xfrm>
          <a:prstGeom prst="rect">
            <a:avLst/>
          </a:prstGeom>
          <a:solidFill>
            <a:srgbClr val="2E7D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331720" y="2167128"/>
            <a:ext cx="16642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3127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Cabin: 77.1% missing  → HasCabin + Deck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19.9% missing  → Median imputation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Embarked: 0.2% missing  → Mode imputation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15568"/>
          <a:ext cx="3977640" cy="23317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Correlation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Sex (female=1)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+0.543 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Pclass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−0.339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Fare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+0.257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Embarked_C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+0.168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−0.077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869"/>
    </mc:Choice>
    <mc:Fallback xmlns="">
      <p:transition spd="slow" advTm="12186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– EDA Insights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82880" y="487375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564 | Layda Dinçkilah | Titanic Survival Prediction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visualizations: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206240" cy="73152"/>
          </a:xfrm>
          <a:prstGeom prst="rect">
            <a:avLst/>
          </a:prstGeom>
          <a:solidFill>
            <a:srgbClr val="1C7EA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65760" y="10698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vs Survival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survival: 74.2%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survival: 18.9%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Sex is the strongest predictor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06240" cy="73152"/>
          </a:xfrm>
          <a:prstGeom prst="rect">
            <a:avLst/>
          </a:prstGeom>
          <a:solidFill>
            <a:srgbClr val="1C7EA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846320" y="10698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Pclass vs Survival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325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class: 63.0%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class: 47.3%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class: 24.2%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 ↑ = Survival 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206240" cy="73152"/>
          </a:xfrm>
          <a:prstGeom prst="rect">
            <a:avLst/>
          </a:prstGeom>
          <a:solidFill>
            <a:srgbClr val="1C7EA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65760" y="28986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Distribution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1546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right-skewed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Applied log1p transform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(LogFare)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754880" y="2788920"/>
            <a:ext cx="4206240" cy="73152"/>
          </a:xfrm>
          <a:prstGeom prst="rect">
            <a:avLst/>
          </a:prstGeom>
          <a:solidFill>
            <a:srgbClr val="1C7EA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846320" y="28986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1546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20–40 years old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slightly more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to survive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"/>
    </mc:Choice>
    <mc:Fallback xmlns="">
      <p:transition spd="slow" advTm="10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2: Data Preprocessing &amp; Feature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663440" y="77724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New Features Engineered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5888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→ Age, FarePerPerson, LogFare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imputation → Embarked, Deck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Dropped: PassengerId, Name, Ticket, Cabin, raw Fare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→ Sex, Embarked, Title, Deck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all numeric features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→ Fare → LogFare (removes right skew)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235888"/>
            <a:ext cx="1920240" cy="566928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736592" y="1281608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FamilySize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SibSp + Parch + 1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20840" y="1235888"/>
            <a:ext cx="1920240" cy="56692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793992" y="1281608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IsAlone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FamilySize ==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894256"/>
            <a:ext cx="1920240" cy="566928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736592" y="1939976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Name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20840" y="1894256"/>
            <a:ext cx="1920240" cy="56692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793992" y="1939976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HasCabin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not null →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552624"/>
            <a:ext cx="1920240" cy="566928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736592" y="259834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letter of Cabin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2552624"/>
            <a:ext cx="1920240" cy="56692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793992" y="259834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LogFare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log(Fare + 1)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210992"/>
            <a:ext cx="1920240" cy="566928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736592" y="3256712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FarePerPerson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/ FamilySize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4074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input: 9 numeric + 4 categorical features  |  Train: 891×13  |  Test: 418×13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880"/>
    </mc:Choice>
    <mc:Fallback xmlns="">
      <p:transition spd="slow" advTm="9288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731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– Model Development and Validation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82880" y="487375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564 | Layda Dinçkilah | Titanic Survival Prediction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20689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trained with default hyperparameters, 5-fold stratified CV: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45029"/>
            <a:ext cx="2406701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20040" y="1281605"/>
            <a:ext cx="23152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81021" y="1245029"/>
            <a:ext cx="1203350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726741" y="1281605"/>
            <a:ext cx="1111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84371" y="1245029"/>
            <a:ext cx="1890979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930091" y="1281605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75350" y="1245029"/>
            <a:ext cx="1547165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821070" y="1281605"/>
            <a:ext cx="145572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22515" y="1245029"/>
            <a:ext cx="1547165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368235" y="1281605"/>
            <a:ext cx="145572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519349"/>
            <a:ext cx="2406701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20040" y="1555925"/>
            <a:ext cx="23152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81021" y="1519349"/>
            <a:ext cx="1203350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726741" y="1555925"/>
            <a:ext cx="1111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84371" y="1519349"/>
            <a:ext cx="1890979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930091" y="1555925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0.8227 ± 0.0138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75350" y="1519349"/>
            <a:ext cx="1547165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821070" y="1555925"/>
            <a:ext cx="145572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0.77033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22515" y="1519349"/>
            <a:ext cx="1547165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368235" y="1555925"/>
            <a:ext cx="145572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1793669"/>
            <a:ext cx="2406701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320040" y="1830245"/>
            <a:ext cx="23152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81021" y="1793669"/>
            <a:ext cx="120335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2726741" y="1830245"/>
            <a:ext cx="1111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84371" y="1793669"/>
            <a:ext cx="1890979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3930091" y="1830245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0.7890 ± 0.0276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75350" y="1793669"/>
            <a:ext cx="1547165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821070" y="1830245"/>
            <a:ext cx="145572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22515" y="1793669"/>
            <a:ext cx="1547165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7368235" y="1830245"/>
            <a:ext cx="145572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⚠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067989"/>
            <a:ext cx="2406701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320040" y="2104565"/>
            <a:ext cx="23152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681021" y="2067989"/>
            <a:ext cx="1203350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2726741" y="2104565"/>
            <a:ext cx="1111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84371" y="2067989"/>
            <a:ext cx="1890979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3930091" y="2104565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0.8024 ± 0.0265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75350" y="2067989"/>
            <a:ext cx="1547165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821070" y="2104565"/>
            <a:ext cx="145572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322515" y="2067989"/>
            <a:ext cx="1547165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7368235" y="2104565"/>
            <a:ext cx="145572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⚠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2342309"/>
            <a:ext cx="2406701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320040" y="2378885"/>
            <a:ext cx="23152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81021" y="2342309"/>
            <a:ext cx="120335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2726741" y="2378885"/>
            <a:ext cx="1111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0.9080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884371" y="2342309"/>
            <a:ext cx="1890979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3930091" y="2378885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0.8406 ± 0.0147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775350" y="2342309"/>
            <a:ext cx="1547165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5821070" y="2378885"/>
            <a:ext cx="145572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0.76076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22515" y="2342309"/>
            <a:ext cx="1547165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7368235" y="2378885"/>
            <a:ext cx="145572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3017520"/>
            <a:ext cx="4114800" cy="1600200"/>
          </a:xfrm>
          <a:prstGeom prst="rect">
            <a:avLst/>
          </a:prstGeom>
          <a:solidFill>
            <a:srgbClr val="EFF6F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365760" y="3090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Accuracy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65760" y="334670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C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0.8406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4572000" y="3017520"/>
            <a:ext cx="4297680" cy="1600200"/>
          </a:xfrm>
          <a:prstGeom prst="rect">
            <a:avLst/>
          </a:prstGeom>
          <a:solidFill>
            <a:srgbClr val="EFF6F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4663440" y="3090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Kaggle Score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663440" y="334670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0.77033</a:t>
            </a:r>
            <a:endParaRPr lang="en-US" sz="2000" dirty="0"/>
          </a:p>
        </p:txBody>
      </p:sp>
      <p:sp>
        <p:nvSpPr>
          <p:cNvPr id="63" name="Text 0">
            <a:extLst>
              <a:ext uri="{FF2B5EF4-FFF2-40B4-BE49-F238E27FC236}">
                <a16:creationId xmlns:a16="http://schemas.microsoft.com/office/drawing/2014/main" id="{07BDCF9D-1DB9-69CD-FB50-072F9C00202B}"/>
              </a:ext>
            </a:extLst>
          </p:cNvPr>
          <p:cNvSpPr/>
          <p:nvPr/>
        </p:nvSpPr>
        <p:spPr>
          <a:xfrm>
            <a:off x="274320" y="502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3: Model Development &amp; Validation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757"/>
    </mc:Choice>
    <mc:Fallback xmlns="">
      <p:transition spd="slow" advTm="10275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731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– Dimensionality Reduction (PCA)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82880" y="487375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564 | Layda Dinçkilah | Titanic Survival Prediction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85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with n_components=0.95 → 10 principal components retained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24715"/>
            <a:ext cx="2320747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20040" y="1161291"/>
            <a:ext cx="222930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95067" y="1124715"/>
            <a:ext cx="1031443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640787" y="1161291"/>
            <a:ext cx="94000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26510" y="1124715"/>
            <a:ext cx="1117397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672230" y="1161291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43907" y="1124715"/>
            <a:ext cx="1890979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789627" y="1161291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34886" y="1124715"/>
            <a:ext cx="2234794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680606" y="1161291"/>
            <a:ext cx="21433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399035"/>
            <a:ext cx="2320747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20040" y="1435611"/>
            <a:ext cx="222930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Logistic Regression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95067" y="1399035"/>
            <a:ext cx="1031443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640787" y="1435611"/>
            <a:ext cx="94000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26510" y="1399035"/>
            <a:ext cx="1117397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672230" y="1435611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0.8159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43907" y="1399035"/>
            <a:ext cx="1890979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789627" y="1435611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0.8081 ± 0.0146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34886" y="1399035"/>
            <a:ext cx="2234794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680606" y="1435611"/>
            <a:ext cx="21433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−0.0146 ↓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1673355"/>
            <a:ext cx="2320747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320040" y="1709931"/>
            <a:ext cx="222930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Gradient Boosting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95067" y="1673355"/>
            <a:ext cx="1031443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2640787" y="1709931"/>
            <a:ext cx="94000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26510" y="1673355"/>
            <a:ext cx="1117397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3672230" y="1709931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0.9147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43907" y="1673355"/>
            <a:ext cx="1890979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789627" y="1709931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0.8070 ± 0.0156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4886" y="1673355"/>
            <a:ext cx="2234794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680606" y="1709931"/>
            <a:ext cx="21433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−0.0336 ↓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1947675"/>
            <a:ext cx="2320747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320040" y="1984251"/>
            <a:ext cx="222930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Random Forest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95067" y="1947675"/>
            <a:ext cx="1031443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2640787" y="1984251"/>
            <a:ext cx="94000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26510" y="1947675"/>
            <a:ext cx="1117397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3672230" y="1984251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43907" y="1947675"/>
            <a:ext cx="1890979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4789627" y="1984251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0.8069 ± 0.0152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34886" y="1947675"/>
            <a:ext cx="2234794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6680606" y="1984251"/>
            <a:ext cx="21433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−0.0045 ↓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2221995"/>
            <a:ext cx="2320747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320040" y="2258571"/>
            <a:ext cx="222930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Decision Tree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595067" y="2221995"/>
            <a:ext cx="1031443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2640787" y="2258571"/>
            <a:ext cx="94000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626510" y="2221995"/>
            <a:ext cx="1117397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3672230" y="2258571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0.9843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43907" y="2221995"/>
            <a:ext cx="1890979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4789627" y="2258571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0.7374 ± 0.0194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634886" y="2221995"/>
            <a:ext cx="2234794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6680606" y="2258571"/>
            <a:ext cx="21433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−0.0516 ↓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3063240"/>
            <a:ext cx="8595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8" name="Shape 56"/>
          <p:cNvSpPr/>
          <p:nvPr/>
        </p:nvSpPr>
        <p:spPr>
          <a:xfrm>
            <a:off x="274320" y="3063240"/>
            <a:ext cx="859536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365760" y="31363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PCA did NOT improve performance.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65760" y="3429000"/>
            <a:ext cx="8412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reduced CV accuracy across all models. Titanic features are mostly categorical/engineered. After one-hot encoding, transforming them into principal components likely discards interpretable discriminative information encoded in specific title and sex columns. The best PCA model (PCA+LR, CV=0.8081) matched the Kaggle score of baseline LR (0.77033) but at lower validation accuracy.</a:t>
            </a:r>
            <a:endParaRPr lang="en-US" sz="1050" dirty="0"/>
          </a:p>
        </p:txBody>
      </p:sp>
      <p:sp>
        <p:nvSpPr>
          <p:cNvPr id="61" name="Text 0">
            <a:extLst>
              <a:ext uri="{FF2B5EF4-FFF2-40B4-BE49-F238E27FC236}">
                <a16:creationId xmlns:a16="http://schemas.microsoft.com/office/drawing/2014/main" id="{132C04BC-73D2-B372-4FB8-27D74D639513}"/>
              </a:ext>
            </a:extLst>
          </p:cNvPr>
          <p:cNvSpPr/>
          <p:nvPr/>
        </p:nvSpPr>
        <p:spPr>
          <a:xfrm>
            <a:off x="274320" y="868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4: Dimensionality Reduction (PCA)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186"/>
    </mc:Choice>
    <mc:Fallback xmlns="">
      <p:transition spd="slow" advTm="11718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731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– Feature Selection (SelectKBest)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82880" y="487375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564 | Layda Dinçkilah | Titanic Survival Prediction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823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 with mutual_info_classif, k=10: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32208"/>
            <a:ext cx="2234794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20040" y="974800"/>
            <a:ext cx="21433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09114" y="932208"/>
            <a:ext cx="859536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554834" y="974800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68650" y="932208"/>
            <a:ext cx="1203350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414370" y="974800"/>
            <a:ext cx="1111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932208"/>
            <a:ext cx="1890979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617720" y="974800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62979" y="932208"/>
            <a:ext cx="2406701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508699" y="974800"/>
            <a:ext cx="23152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212544"/>
            <a:ext cx="2234794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20040" y="1249120"/>
            <a:ext cx="21433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+ Gradient Boosting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09114" y="1212544"/>
            <a:ext cx="859536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554834" y="1249120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68650" y="1212544"/>
            <a:ext cx="1203350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414370" y="1249120"/>
            <a:ext cx="1111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0.8799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1212544"/>
            <a:ext cx="1890979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617720" y="1249120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0.8361 ± 0.0234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62979" y="1212544"/>
            <a:ext cx="2406701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508699" y="1249120"/>
            <a:ext cx="23152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0.76315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1486864"/>
            <a:ext cx="2234794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320040" y="1523440"/>
            <a:ext cx="21433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+ Random Forest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09114" y="1486864"/>
            <a:ext cx="85953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2554834" y="1523440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68650" y="1486864"/>
            <a:ext cx="120335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3414370" y="1523440"/>
            <a:ext cx="1111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0.9304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1486864"/>
            <a:ext cx="1890979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617720" y="1523440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0.8125 ± 0.0239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62979" y="1486864"/>
            <a:ext cx="2406701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508699" y="1523440"/>
            <a:ext cx="23152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1761184"/>
            <a:ext cx="2234794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320040" y="1797760"/>
            <a:ext cx="21433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+ Decision Tree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09114" y="1761184"/>
            <a:ext cx="859536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2554834" y="1797760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68650" y="1761184"/>
            <a:ext cx="1203350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3414370" y="1797760"/>
            <a:ext cx="1111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0.9304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1761184"/>
            <a:ext cx="1890979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4617720" y="1797760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0.7991 ± 0.0183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62979" y="1761184"/>
            <a:ext cx="2406701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6508699" y="1797760"/>
            <a:ext cx="23152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2035504"/>
            <a:ext cx="2234794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320040" y="2072080"/>
            <a:ext cx="21433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+ Logistic Regression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509114" y="2035504"/>
            <a:ext cx="85953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2554834" y="2072080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68650" y="2035504"/>
            <a:ext cx="120335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3414370" y="2072080"/>
            <a:ext cx="1111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0.8025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0" y="2035504"/>
            <a:ext cx="1890979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4617720" y="2072080"/>
            <a:ext cx="17995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0.8003 ± 0.0186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462979" y="2035504"/>
            <a:ext cx="2406701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6508699" y="2072080"/>
            <a:ext cx="23152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74320" y="24977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Selected Features: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74320" y="2817796"/>
            <a:ext cx="1920240" cy="274320"/>
          </a:xfrm>
          <a:prstGeom prst="rect">
            <a:avLst/>
          </a:prstGeom>
          <a:solidFill>
            <a:srgbClr val="1C7EA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274320" y="28177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Pclass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3146980"/>
            <a:ext cx="1920240" cy="274320"/>
          </a:xfrm>
          <a:prstGeom prst="rect">
            <a:avLst/>
          </a:prstGeom>
          <a:solidFill>
            <a:srgbClr val="1C7EA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274320" y="31469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FamilySize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74320" y="3476164"/>
            <a:ext cx="1920240" cy="274320"/>
          </a:xfrm>
          <a:prstGeom prst="rect">
            <a:avLst/>
          </a:prstGeom>
          <a:solidFill>
            <a:srgbClr val="1C7EA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274320" y="34761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FarePerPerson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74320" y="3805348"/>
            <a:ext cx="1920240" cy="274320"/>
          </a:xfrm>
          <a:prstGeom prst="rect">
            <a:avLst/>
          </a:prstGeom>
          <a:solidFill>
            <a:srgbClr val="1C7EA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5" name="Text 63"/>
          <p:cNvSpPr/>
          <p:nvPr/>
        </p:nvSpPr>
        <p:spPr>
          <a:xfrm>
            <a:off x="274320" y="38053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LogFare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4320" y="4134532"/>
            <a:ext cx="1920240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274320" y="41345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Sex_female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377440" y="2817796"/>
            <a:ext cx="1920240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9" name="Text 67"/>
          <p:cNvSpPr/>
          <p:nvPr/>
        </p:nvSpPr>
        <p:spPr>
          <a:xfrm>
            <a:off x="2377440" y="28177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Sex_male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377440" y="3146980"/>
            <a:ext cx="1920240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1" name="Text 69"/>
          <p:cNvSpPr/>
          <p:nvPr/>
        </p:nvSpPr>
        <p:spPr>
          <a:xfrm>
            <a:off x="2377440" y="31469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Title_Miss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377440" y="3476164"/>
            <a:ext cx="1920240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3" name="Text 71"/>
          <p:cNvSpPr/>
          <p:nvPr/>
        </p:nvSpPr>
        <p:spPr>
          <a:xfrm>
            <a:off x="2377440" y="34761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Title_Mr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377440" y="3805348"/>
            <a:ext cx="1920240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5" name="Text 73"/>
          <p:cNvSpPr/>
          <p:nvPr/>
        </p:nvSpPr>
        <p:spPr>
          <a:xfrm>
            <a:off x="2377440" y="38053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Title_Mrs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377440" y="4134532"/>
            <a:ext cx="1920240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7" name="Text 75"/>
          <p:cNvSpPr/>
          <p:nvPr/>
        </p:nvSpPr>
        <p:spPr>
          <a:xfrm>
            <a:off x="2377440" y="41345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Deck_D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480560" y="2678224"/>
            <a:ext cx="4389120" cy="1828800"/>
          </a:xfrm>
          <a:prstGeom prst="rect">
            <a:avLst/>
          </a:prstGeom>
          <a:solidFill>
            <a:srgbClr val="EFF6F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9" name="Text 77"/>
          <p:cNvSpPr/>
          <p:nvPr/>
        </p:nvSpPr>
        <p:spPr>
          <a:xfrm>
            <a:off x="4572000" y="275137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572000" y="3025696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reduced overfitting: Train accuracy dropped from 0.9080 → 0.8799. Selected features align with EDA findings: Sex, Title, and Pclass dominate. Engineered features (FarePerPerson, LogFare, FamilySize) also selected, confirming the value of feature engineering.</a:t>
            </a:r>
            <a:endParaRPr lang="en-US" sz="1000" dirty="0"/>
          </a:p>
        </p:txBody>
      </p:sp>
      <p:sp>
        <p:nvSpPr>
          <p:cNvPr id="81" name="Text 0">
            <a:extLst>
              <a:ext uri="{FF2B5EF4-FFF2-40B4-BE49-F238E27FC236}">
                <a16:creationId xmlns:a16="http://schemas.microsoft.com/office/drawing/2014/main" id="{6F09D495-094A-0EF7-7694-FE41D1A70E8F}"/>
              </a:ext>
            </a:extLst>
          </p:cNvPr>
          <p:cNvSpPr/>
          <p:nvPr/>
        </p:nvSpPr>
        <p:spPr>
          <a:xfrm>
            <a:off x="228600" y="868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5: Feature Selection (SelectKBest)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040"/>
    </mc:Choice>
    <mc:Fallback xmlns="">
      <p:transition spd="slow" advTm="8604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731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82880" y="487375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564 | Layda Dinçkilah | Titanic Survival Prediction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24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with 5-fold CV on 4 configurations: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34477"/>
            <a:ext cx="1805026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20040" y="1071053"/>
            <a:ext cx="17135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79346" y="1034477"/>
            <a:ext cx="2750515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125066" y="1071053"/>
            <a:ext cx="26590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29861" y="1034477"/>
            <a:ext cx="1117397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875581" y="1071053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7258" y="1034477"/>
            <a:ext cx="1117397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992978" y="1071053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64654" y="1034477"/>
            <a:ext cx="1805026" cy="2743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110374" y="1071053"/>
            <a:ext cx="17135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308797"/>
            <a:ext cx="1805026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20040" y="1345373"/>
            <a:ext cx="17135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LR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79346" y="1308797"/>
            <a:ext cx="2750515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125066" y="1345373"/>
            <a:ext cx="26590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C=5, solver=lbfgs, penalty=l2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29861" y="1308797"/>
            <a:ext cx="1117397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875581" y="1345373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0.8373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7258" y="1308797"/>
            <a:ext cx="1117397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992978" y="1345373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0.8249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64654" y="1308797"/>
            <a:ext cx="1805026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110374" y="1345373"/>
            <a:ext cx="17135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+0.0022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1583117"/>
            <a:ext cx="180502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320040" y="1619693"/>
            <a:ext cx="17135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GB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79346" y="1583117"/>
            <a:ext cx="2750515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2125066" y="1619693"/>
            <a:ext cx="26590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lr=0.1, depth=3, n_est=200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29861" y="1583117"/>
            <a:ext cx="1117397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875581" y="1619693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0.9338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7258" y="1583117"/>
            <a:ext cx="1117397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992978" y="1619693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0.8429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64654" y="1583117"/>
            <a:ext cx="180502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7110374" y="1619693"/>
            <a:ext cx="17135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+0.0023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1857437"/>
            <a:ext cx="1805026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320040" y="1894013"/>
            <a:ext cx="17135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FS+GB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079346" y="1857437"/>
            <a:ext cx="2750515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2125066" y="1894013"/>
            <a:ext cx="26590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k=14, lr=0.1, depth=2, n_est=150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29861" y="1857437"/>
            <a:ext cx="1117397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875581" y="1894013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0.8777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47258" y="1857437"/>
            <a:ext cx="1117397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992978" y="1894013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0.8417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64654" y="1857437"/>
            <a:ext cx="1805026" cy="274320"/>
          </a:xfrm>
          <a:prstGeom prst="rect">
            <a:avLst/>
          </a:prstGeom>
          <a:solidFill>
            <a:srgbClr val="EFF6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7110374" y="1894013"/>
            <a:ext cx="17135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+0.0056 ★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2131757"/>
            <a:ext cx="180502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320040" y="2168333"/>
            <a:ext cx="17135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PCA+LR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079346" y="2131757"/>
            <a:ext cx="2750515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2125066" y="2168333"/>
            <a:ext cx="26590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C=10, pca_n=0.99, solver=lbfgs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29861" y="2131757"/>
            <a:ext cx="1117397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4875581" y="2168333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0.8238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947258" y="2131757"/>
            <a:ext cx="1117397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5992978" y="2168333"/>
            <a:ext cx="10259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064654" y="2131757"/>
            <a:ext cx="180502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7110374" y="2168333"/>
            <a:ext cx="171358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2912842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365760" y="298599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Score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65760" y="327860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FS + GB: 0.8417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65760" y="364436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k=14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(initial k=10 was too restrictive)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2912842"/>
            <a:ext cx="4297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2" name="Text 60"/>
          <p:cNvSpPr/>
          <p:nvPr/>
        </p:nvSpPr>
        <p:spPr>
          <a:xfrm>
            <a:off x="4663440" y="298599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663440" y="3260314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provided marginal but consistent improvement (+0.001 to +0.006 CV accuracy). Most gain from Tuned FS+GB, where increasing k from 10→14 features preserved more informative signal.</a:t>
            </a:r>
            <a:endParaRPr lang="en-US" sz="1000" dirty="0"/>
          </a:p>
        </p:txBody>
      </p:sp>
      <p:sp>
        <p:nvSpPr>
          <p:cNvPr id="64" name="Text 0">
            <a:extLst>
              <a:ext uri="{FF2B5EF4-FFF2-40B4-BE49-F238E27FC236}">
                <a16:creationId xmlns:a16="http://schemas.microsoft.com/office/drawing/2014/main" id="{B6E95B60-8C66-EF39-E40E-D70BFFCFC48C}"/>
              </a:ext>
            </a:extLst>
          </p:cNvPr>
          <p:cNvSpPr/>
          <p:nvPr/>
        </p:nvSpPr>
        <p:spPr>
          <a:xfrm>
            <a:off x="274320" y="81093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6: Hyperparameter Optimization (Grid Search CV)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739"/>
    </mc:Choice>
    <mc:Fallback xmlns="">
      <p:transition spd="slow" advTm="10873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7: Model Ensembling (Soft Voting)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Combine best Kaggle model + best CV model via Soft Voting (avg. predicted probabilities)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3200400" cy="731520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Logistic Regression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Kaggle: 0.77033)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2011680"/>
            <a:ext cx="3200400" cy="7315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FS + Gradient Boosting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CV: 0.8451)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1481328"/>
            <a:ext cx="731520" cy="0"/>
          </a:xfrm>
          <a:prstGeom prst="line">
            <a:avLst/>
          </a:prstGeom>
          <a:noFill/>
          <a:ln w="254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611880" y="2377440"/>
            <a:ext cx="731520" cy="0"/>
          </a:xfrm>
          <a:prstGeom prst="line">
            <a:avLst/>
          </a:prstGeom>
          <a:noFill/>
          <a:ln w="254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343400" y="1481328"/>
            <a:ext cx="0" cy="89611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800600" y="1600200"/>
            <a:ext cx="2926080" cy="731520"/>
          </a:xfrm>
          <a:prstGeom prst="rect">
            <a:avLst/>
          </a:prstGeom>
          <a:solidFill>
            <a:srgbClr val="F4C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Ensemble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(avg. probabilities)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07792"/>
          <a:ext cx="8321040" cy="13258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 Acc.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5-Fold CV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Kaggle 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Tuned Logistic Regression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0.8373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0.8249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0.77033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Tuned FS + GB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0.8777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0.8451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0.75358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3F6E"/>
                          </a:solidFill>
                        </a:rPr>
                        <a:t>Soft Voting Ensemble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3F6E"/>
                          </a:solidFill>
                        </a:rPr>
                        <a:t>0.8586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3F6E"/>
                          </a:solidFill>
                        </a:rPr>
                        <a:t>0.8327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3F6E"/>
                          </a:solidFill>
                        </a:rPr>
                        <a:t>0.77990 (best)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11480" y="449884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Improvement: YES. Ensemble improved Kaggle score from 0.77033 → 0.77990 (best in project).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428"/>
    </mc:Choice>
    <mc:Fallback xmlns="">
      <p:transition spd="slow" advTm="9542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8: Research-Based Improvements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84048" y="1005840"/>
            <a:ext cx="2697480" cy="1600200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75488" y="1097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Extraction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" y="1554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Mr, Mrs, Miss, Master,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— 5 categories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2011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SelectKBest: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Title_Mr, Miss, Mrs in top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97480" cy="16002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FamilySize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IsAlone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554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SibSp + Parch + 1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travel flag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representation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raw SibSp/Parch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16752" y="1005840"/>
            <a:ext cx="2697480" cy="1600200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108192" y="1097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HasCabin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08192" y="1554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+ categorical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77% missing col.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08192" y="2011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signal without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discarding sparse column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834640"/>
            <a:ext cx="2697480" cy="16002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75488" y="2926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LogFare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FarePerPerson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+ fare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by family size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8404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skewness; both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top 10 selected features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2697480" cy="1600200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291840" y="2926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(linear) + GB (tree)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5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probability avg.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8404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Kaggle score: 0.77990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0.77033 individual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688"/>
    </mc:Choice>
    <mc:Fallback xmlns="">
      <p:transition spd="slow" advTm="11668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9: Final Model &amp; Submission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589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Soft Voting Ensemble  (Tuned LR + Tuned FS + Gradient Boosting)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385824"/>
              </p:ext>
            </p:extLst>
          </p:nvPr>
        </p:nvGraphicFramePr>
        <p:xfrm>
          <a:off x="411480" y="1115568"/>
          <a:ext cx="5303520" cy="2164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 CV 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0.8372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±0.0203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0.8067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±0.0435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0.7629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±0.0585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0.7817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±0.0310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Balanced Acc.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0.8231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±0.0238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AUROC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0.8873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±0.0174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AUPRC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0.8705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±0.0105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15568"/>
            <a:ext cx="2834640" cy="603504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5897880" y="11338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0.8873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897880" y="14813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97880" y="1810512"/>
            <a:ext cx="2834640" cy="603504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897880" y="18288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0.8705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897880" y="21762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2505456"/>
            <a:ext cx="2834640" cy="603504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9"/>
          <p:cNvSpPr/>
          <p:nvPr/>
        </p:nvSpPr>
        <p:spPr>
          <a:xfrm>
            <a:off x="5897880" y="252374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0.837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897880" y="287121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97880" y="3200400"/>
            <a:ext cx="2834640" cy="603504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5897880" y="32186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897880" y="35661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97880" y="3904488"/>
            <a:ext cx="2834640" cy="658368"/>
          </a:xfrm>
          <a:prstGeom prst="rect">
            <a:avLst/>
          </a:prstGeom>
          <a:solidFill>
            <a:srgbClr val="F4C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5897880" y="390448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Score: 0.77990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-111894" y="47183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AUROC=0.8801 (out-of-fold)  |  Training Acc=0.86  |  Minimal overfitting observed</a:t>
            </a:r>
            <a:endParaRPr lang="en-US" sz="1100" dirty="0"/>
          </a:p>
        </p:txBody>
      </p:sp>
      <p:sp>
        <p:nvSpPr>
          <p:cNvPr id="20" name="Shape 56">
            <a:extLst>
              <a:ext uri="{FF2B5EF4-FFF2-40B4-BE49-F238E27FC236}">
                <a16:creationId xmlns:a16="http://schemas.microsoft.com/office/drawing/2014/main" id="{459BCBDD-781E-22F1-C067-11A9DD595B2A}"/>
              </a:ext>
            </a:extLst>
          </p:cNvPr>
          <p:cNvSpPr/>
          <p:nvPr/>
        </p:nvSpPr>
        <p:spPr>
          <a:xfrm>
            <a:off x="411480" y="3333950"/>
            <a:ext cx="5289082" cy="1323805"/>
          </a:xfrm>
          <a:prstGeom prst="rect">
            <a:avLst/>
          </a:prstGeom>
          <a:solidFill>
            <a:srgbClr val="EFF6F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Text 57">
            <a:extLst>
              <a:ext uri="{FF2B5EF4-FFF2-40B4-BE49-F238E27FC236}">
                <a16:creationId xmlns:a16="http://schemas.microsoft.com/office/drawing/2014/main" id="{DA8B4740-0EDF-6CBA-7DAE-5C5229C86538}"/>
              </a:ext>
            </a:extLst>
          </p:cNvPr>
          <p:cNvSpPr/>
          <p:nvPr/>
        </p:nvSpPr>
        <p:spPr>
          <a:xfrm>
            <a:off x="365760" y="3407102"/>
            <a:ext cx="5415414" cy="2246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(Training Set)</a:t>
            </a:r>
            <a:endParaRPr lang="en-US" sz="1100" dirty="0"/>
          </a:p>
        </p:txBody>
      </p:sp>
      <p:sp>
        <p:nvSpPr>
          <p:cNvPr id="22" name="Text 58">
            <a:extLst>
              <a:ext uri="{FF2B5EF4-FFF2-40B4-BE49-F238E27FC236}">
                <a16:creationId xmlns:a16="http://schemas.microsoft.com/office/drawing/2014/main" id="{63154AFE-076F-345C-F5E1-0E706106DD7C}"/>
              </a:ext>
            </a:extLst>
          </p:cNvPr>
          <p:cNvSpPr/>
          <p:nvPr/>
        </p:nvSpPr>
        <p:spPr>
          <a:xfrm>
            <a:off x="365760" y="3681422"/>
            <a:ext cx="5289082" cy="9627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Negatives: 489   |   False Positives: 60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Negatives: 69   |   True Positives: 273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0.8873  |  AUPRC: 0.8705  → Strong discriminative ability despite class imbalance (61.6% vs 38.4%)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551"/>
    </mc:Choice>
    <mc:Fallback xmlns="">
      <p:transition spd="slow" advTm="13255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3977640" cy="914400"/>
          </a:xfrm>
          <a:prstGeom prst="rect">
            <a:avLst/>
          </a:prstGeom>
          <a:solidFill>
            <a:srgbClr val="F4C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Kaggle 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0.77990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617720" y="1051560"/>
            <a:ext cx="3977640" cy="9144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09160" y="10972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9160" y="14447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0.8451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3977640" cy="914400"/>
          </a:xfrm>
          <a:prstGeom prst="rect">
            <a:avLst/>
          </a:prstGeom>
          <a:solidFill>
            <a:srgbClr val="1C3F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9631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Ensemble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17720" y="2103120"/>
            <a:ext cx="3977640" cy="914400"/>
          </a:xfrm>
          <a:prstGeom prst="rect">
            <a:avLst/>
          </a:prstGeom>
          <a:solidFill>
            <a:srgbClr val="2E7D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709160" y="21488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49631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11480" y="3218688"/>
            <a:ext cx="8321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engineering (Title, FamilySize, HasCabin, LogFare, FarePerPerson) was more impactful than model complexity.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 Voting Ensemble combining linear (LR) + tree-based (GB) models yielded the best generalization.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PCA reduced performance; SelectKBest confirmed the most informative engineered features.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 Search improved CV accuracy but didn't always improve Kaggle score — model selection requires both metrics.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107"/>
    </mc:Choice>
    <mc:Fallback xmlns="">
      <p:transition spd="slow" advTm="11110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1442</Words>
  <Application>Microsoft Office PowerPoint</Application>
  <PresentationFormat>Ekran Gösterisi (16:9)</PresentationFormat>
  <Paragraphs>363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Survival Prediction - ECE 564 Mini Project</dc:title>
  <dc:subject>PptxGenJS Presentation</dc:subject>
  <dc:creator>PptxGenJS</dc:creator>
  <cp:lastModifiedBy>İlayda .</cp:lastModifiedBy>
  <cp:revision>34</cp:revision>
  <dcterms:created xsi:type="dcterms:W3CDTF">2026-05-12T10:26:51Z</dcterms:created>
  <dcterms:modified xsi:type="dcterms:W3CDTF">2026-05-13T13:59:31Z</dcterms:modified>
</cp:coreProperties>
</file>